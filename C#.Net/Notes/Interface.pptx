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709" autoAdjust="0"/>
  </p:normalViewPr>
  <p:slideViewPr>
    <p:cSldViewPr>
      <p:cViewPr varScale="1">
        <p:scale>
          <a:sx n="63" d="100"/>
          <a:sy n="63" d="100"/>
        </p:scale>
        <p:origin x="13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In </a:t>
            </a:r>
            <a:r>
              <a:rPr lang="en-US" sz="2000" b="1" dirty="0"/>
              <a:t>Object-Oriented Programming</a:t>
            </a:r>
            <a:r>
              <a:rPr lang="en-US" sz="2000" dirty="0"/>
              <a:t>, an </a:t>
            </a:r>
            <a:r>
              <a:rPr lang="en-US" sz="2000" b="1" dirty="0"/>
              <a:t>interface</a:t>
            </a:r>
            <a:r>
              <a:rPr lang="en-US" sz="2000" dirty="0"/>
              <a:t> is like a </a:t>
            </a:r>
            <a:r>
              <a:rPr lang="en-US" sz="2000" b="1" dirty="0"/>
              <a:t>contract</a:t>
            </a:r>
            <a:r>
              <a:rPr lang="en-US" sz="2000" dirty="0"/>
              <a:t>.</a:t>
            </a:r>
          </a:p>
          <a:p>
            <a:r>
              <a:rPr lang="en-US" sz="2000" dirty="0"/>
              <a:t>It defines </a:t>
            </a:r>
            <a:r>
              <a:rPr lang="en-US" sz="2000" b="1" dirty="0"/>
              <a:t>what methods/properties a class must implement</a:t>
            </a:r>
            <a:r>
              <a:rPr lang="en-US" sz="2000" dirty="0"/>
              <a:t>, but </a:t>
            </a:r>
            <a:r>
              <a:rPr lang="en-US" sz="2000" b="1" dirty="0"/>
              <a:t>not how</a:t>
            </a:r>
            <a:r>
              <a:rPr lang="en-US" sz="2000" dirty="0"/>
              <a:t> they are implemented.</a:t>
            </a:r>
          </a:p>
          <a:p>
            <a:r>
              <a:rPr lang="en-US" sz="2000" dirty="0"/>
              <a:t>Think of it as a </a:t>
            </a:r>
            <a:r>
              <a:rPr lang="en-US" sz="2000" b="1" dirty="0"/>
              <a:t>blueprint</a:t>
            </a:r>
            <a:r>
              <a:rPr lang="en-US" sz="2000" dirty="0"/>
              <a:t> without actual code.</a:t>
            </a:r>
          </a:p>
          <a:p>
            <a:r>
              <a:rPr lang="en-US" sz="2000" dirty="0"/>
              <a:t>An </a:t>
            </a:r>
            <a:r>
              <a:rPr lang="en-US" sz="2000" b="1" dirty="0"/>
              <a:t>interface</a:t>
            </a:r>
            <a:r>
              <a:rPr lang="en-US" sz="2000" dirty="0"/>
              <a:t> in C# is a collection of </a:t>
            </a:r>
            <a:r>
              <a:rPr lang="en-US" sz="2000" b="1" dirty="0"/>
              <a:t>abstract members</a:t>
            </a:r>
            <a:r>
              <a:rPr lang="en-US" sz="2000" dirty="0"/>
              <a:t> (methods, properties, events, indexers) that </a:t>
            </a:r>
            <a:r>
              <a:rPr lang="en-US" sz="2000" b="1" dirty="0"/>
              <a:t>must</a:t>
            </a:r>
            <a:r>
              <a:rPr lang="en-US" sz="2000" dirty="0"/>
              <a:t> be implemented by the classes or structs that use it.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1F1DD-EA81-7ADB-3825-2C54956A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5A63BE-A6C1-693D-C451-06AD3377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25A154-26BB-5357-C4A0-2AC76C3120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Why Do We Need an Interface</a:t>
            </a:r>
          </a:p>
          <a:p>
            <a:r>
              <a:rPr lang="en-US" sz="2000" b="1" dirty="0"/>
              <a:t>Standardization / Contract</a:t>
            </a:r>
            <a:endParaRPr lang="en-US" sz="2000" dirty="0"/>
          </a:p>
          <a:p>
            <a:r>
              <a:rPr lang="en-US" sz="2000" dirty="0"/>
              <a:t>Interfaces ensure that different classes follow the same rules.</a:t>
            </a:r>
          </a:p>
          <a:p>
            <a:r>
              <a:rPr lang="en-US" sz="2000" dirty="0"/>
              <a:t>Example: If we say all "Payments" must have a </a:t>
            </a:r>
            <a:r>
              <a:rPr lang="en-US" dirty="0"/>
              <a:t>Pay()</a:t>
            </a:r>
            <a:r>
              <a:rPr lang="en-US" sz="2000" dirty="0"/>
              <a:t> method, then </a:t>
            </a:r>
            <a:r>
              <a:rPr lang="en-US" sz="2000" dirty="0" err="1"/>
              <a:t>CreditCard</a:t>
            </a:r>
            <a:r>
              <a:rPr lang="en-US" sz="2000" dirty="0"/>
              <a:t>, UPI, and PayPal all must implement it.</a:t>
            </a:r>
          </a:p>
          <a:p>
            <a:r>
              <a:rPr lang="en-US" sz="2000" b="1" dirty="0"/>
              <a:t>Multiple Inheritance</a:t>
            </a:r>
            <a:endParaRPr lang="en-US" sz="2000" dirty="0"/>
          </a:p>
          <a:p>
            <a:r>
              <a:rPr lang="en-US" sz="2000" dirty="0"/>
              <a:t>C# does not allow multiple inheritance with classes, but you can </a:t>
            </a:r>
            <a:r>
              <a:rPr lang="en-US" sz="2000" b="1" dirty="0"/>
              <a:t>implement multiple interfaces</a:t>
            </a:r>
            <a:r>
              <a:rPr lang="en-US" sz="2000" dirty="0"/>
              <a:t>.</a:t>
            </a:r>
          </a:p>
          <a:p>
            <a:r>
              <a:rPr lang="en-US" sz="2000" b="1" dirty="0"/>
              <a:t>Loose Coupling</a:t>
            </a:r>
            <a:endParaRPr lang="en-US" sz="2000" dirty="0"/>
          </a:p>
          <a:p>
            <a:r>
              <a:rPr lang="en-US" sz="2000" dirty="0"/>
              <a:t>Code depends on the interface, not the concrete class → makes applications flexible and testable.</a:t>
            </a:r>
          </a:p>
          <a:p>
            <a:r>
              <a:rPr lang="en-US" sz="2000" b="1" dirty="0"/>
              <a:t>Polymorphism</a:t>
            </a:r>
            <a:endParaRPr lang="en-US" sz="2000" dirty="0"/>
          </a:p>
          <a:p>
            <a:r>
              <a:rPr lang="en-US" sz="2000" dirty="0"/>
              <a:t>Different classes implementing the same interface can be used interchangeably.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777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A1367-4CEA-906B-4B7D-A253D649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8E0666-3FCB-2ACE-A709-E0FA2B49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1FA789-F27B-9013-30F0-E19BDC6BC30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Real-World Analogy</a:t>
            </a:r>
          </a:p>
          <a:p>
            <a:r>
              <a:rPr lang="en-US" sz="2000" dirty="0"/>
              <a:t>An </a:t>
            </a:r>
            <a:r>
              <a:rPr lang="en-US" sz="2000" b="1" dirty="0"/>
              <a:t>interface is like a remote control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The TV, AC, or Music System may have different internal mechanisms.</a:t>
            </a:r>
          </a:p>
          <a:p>
            <a:pPr lvl="1"/>
            <a:r>
              <a:rPr lang="en-US" sz="2000" dirty="0"/>
              <a:t>But all devices </a:t>
            </a:r>
            <a:r>
              <a:rPr lang="en-US" sz="2000" b="1" dirty="0"/>
              <a:t>must</a:t>
            </a:r>
            <a:r>
              <a:rPr lang="en-US" sz="2000" dirty="0"/>
              <a:t> respond to </a:t>
            </a:r>
            <a:r>
              <a:rPr lang="en-US" sz="2000" dirty="0" err="1"/>
              <a:t>PowerOn</a:t>
            </a:r>
            <a:r>
              <a:rPr lang="en-US" sz="2000" dirty="0"/>
              <a:t>() and </a:t>
            </a:r>
            <a:r>
              <a:rPr lang="en-US" sz="2000" dirty="0" err="1"/>
              <a:t>PowerOff</a:t>
            </a:r>
            <a:r>
              <a:rPr lang="en-US" sz="2000" dirty="0"/>
              <a:t>().</a:t>
            </a:r>
          </a:p>
          <a:p>
            <a:pPr lvl="1"/>
            <a:r>
              <a:rPr lang="en-US" sz="2000" dirty="0"/>
              <a:t>You (user) don’t care about internal circuits. You just press the button.</a:t>
            </a:r>
          </a:p>
          <a:p>
            <a:endParaRPr lang="en-US" sz="1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26492F-C9EA-F584-F417-5B0212189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934561"/>
              </p:ext>
            </p:extLst>
          </p:nvPr>
        </p:nvGraphicFramePr>
        <p:xfrm>
          <a:off x="914400" y="3822700"/>
          <a:ext cx="7007352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614">
                  <a:extLst>
                    <a:ext uri="{9D8B030D-6E8A-4147-A177-3AD203B41FA5}">
                      <a16:colId xmlns:a16="http://schemas.microsoft.com/office/drawing/2014/main" val="2606763996"/>
                    </a:ext>
                  </a:extLst>
                </a:gridCol>
                <a:gridCol w="4992738">
                  <a:extLst>
                    <a:ext uri="{9D8B030D-6E8A-4147-A177-3AD203B41FA5}">
                      <a16:colId xmlns:a16="http://schemas.microsoft.com/office/drawing/2014/main" val="3717387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7178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method/property/event declarations (no implementation)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991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a </a:t>
                      </a:r>
                      <a:r>
                        <a:rPr lang="en-US" b="1"/>
                        <a:t>contract/blueprint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751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Achieve polymorphism, loose coupling, multiple inheritance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551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IPayment</a:t>
                      </a:r>
                      <a:r>
                        <a:rPr lang="en-US" dirty="0"/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ILogger</a:t>
                      </a:r>
                      <a:r>
                        <a:rPr lang="en-US" dirty="0"/>
                        <a:t>,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IEnumerable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196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8878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2712</TotalTime>
  <Words>258</Words>
  <Application>Microsoft Office PowerPoint</Application>
  <PresentationFormat>On-screen Show (4:3)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Courier New</vt:lpstr>
      <vt:lpstr>Tw Cen MT</vt:lpstr>
      <vt:lpstr>Wingdings</vt:lpstr>
      <vt:lpstr>Wingdings 2</vt:lpstr>
      <vt:lpstr>Median</vt:lpstr>
      <vt:lpstr>Interface</vt:lpstr>
      <vt:lpstr>Interface</vt:lpstr>
      <vt:lpstr>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Threading</dc:title>
  <dc:creator/>
  <cp:lastModifiedBy>Santhosh Kumar</cp:lastModifiedBy>
  <cp:revision>199</cp:revision>
  <dcterms:created xsi:type="dcterms:W3CDTF">2006-08-16T00:00:00Z</dcterms:created>
  <dcterms:modified xsi:type="dcterms:W3CDTF">2025-10-01T19:09:05Z</dcterms:modified>
</cp:coreProperties>
</file>